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sk-S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66" y="4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817496D-56CE-41FF-8E27-00087802AF3A}"/>
              </a:ext>
            </a:extLst>
          </p:cNvPr>
          <p:cNvSpPr>
            <a:spLocks noGrp="1"/>
          </p:cNvSpPr>
          <p:nvPr/>
        </p:nvSpPr>
        <p:spPr>
          <a:xfrm>
            <a:off x="419100" y="381000"/>
            <a:ext cx="885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200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Project: [enter name]  •  Period: [enter period]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C9FCB8-FBED-4325-8EC1-1E1AEEBEC44F}"/>
              </a:ext>
            </a:extLst>
          </p:cNvPr>
          <p:cNvSpPr>
            <a:spLocks noGrp="1"/>
          </p:cNvSpPr>
          <p:nvPr/>
        </p:nvSpPr>
        <p:spPr>
          <a:xfrm>
            <a:off x="419100" y="1790700"/>
            <a:ext cx="809625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rmAutofit fontScale="97917"/>
          </a:bodyPr>
          <a:lstStyle/>
          <a:p>
            <a:pPr algn="l">
              <a:defRPr sz="48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PROJECT STATUS REPORT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392DECB-C3E4-4A9D-9327-D14AFB6362BD}"/>
              </a:ext>
            </a:extLst>
          </p:cNvPr>
          <p:cNvSpPr>
            <a:spLocks noGrp="1"/>
          </p:cNvSpPr>
          <p:nvPr/>
        </p:nvSpPr>
        <p:spPr>
          <a:xfrm>
            <a:off x="419100" y="3638550"/>
            <a:ext cx="6667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9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An editable template for regular team reporting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5F2437-A96B-4A28-BAC9-CBD5BDDDE571}"/>
              </a:ext>
            </a:extLst>
          </p:cNvPr>
          <p:cNvSpPr>
            <a:spLocks noGrp="1"/>
          </p:cNvSpPr>
          <p:nvPr/>
        </p:nvSpPr>
        <p:spPr>
          <a:xfrm>
            <a:off x="8991600" y="381000"/>
            <a:ext cx="2781300" cy="5619750"/>
          </a:xfrm>
          <a:prstGeom prst="rect">
            <a:avLst/>
          </a:prstGeom>
          <a:solidFill>
            <a:srgbClr val="D9F0FB"/>
          </a:solidFill>
          <a:ln w="0">
            <a:noFill/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E795C4C-9F81-4523-A550-13B1C082E319}"/>
              </a:ext>
            </a:extLst>
          </p:cNvPr>
          <p:cNvSpPr>
            <a:spLocks noGrp="1"/>
          </p:cNvSpPr>
          <p:nvPr/>
        </p:nvSpPr>
        <p:spPr>
          <a:xfrm>
            <a:off x="9525000" y="1504950"/>
            <a:ext cx="1714500" cy="1714500"/>
          </a:xfrm>
          <a:prstGeom prst="roundRect">
            <a:avLst>
              <a:gd name="adj" fmla="val 6667"/>
            </a:avLst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0D22BC-6CE2-4BDD-BF4A-8F277696396A}"/>
              </a:ext>
            </a:extLst>
          </p:cNvPr>
          <p:cNvSpPr>
            <a:spLocks noGrp="1"/>
          </p:cNvSpPr>
          <p:nvPr/>
        </p:nvSpPr>
        <p:spPr>
          <a:xfrm>
            <a:off x="9734550" y="2114550"/>
            <a:ext cx="1295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30EBAA-98D3-4982-A153-3EABB3DF28D1}"/>
              </a:ext>
            </a:extLst>
          </p:cNvPr>
          <p:cNvSpPr>
            <a:spLocks noGrp="1"/>
          </p:cNvSpPr>
          <p:nvPr/>
        </p:nvSpPr>
        <p:spPr>
          <a:xfrm>
            <a:off x="419100" y="64198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111"/>
          </a:bodyPr>
          <a:lstStyle/>
          <a:p>
            <a:pPr algn="l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Internal project report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CAAE1A-CFBE-4378-BFF9-3453705FBE51}"/>
              </a:ext>
            </a:extLst>
          </p:cNvPr>
          <p:cNvSpPr>
            <a:spLocks noGrp="1"/>
          </p:cNvSpPr>
          <p:nvPr/>
        </p:nvSpPr>
        <p:spPr>
          <a:xfrm>
            <a:off x="11239500" y="6419850"/>
            <a:ext cx="5238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111"/>
          </a:bodyPr>
          <a:lstStyle/>
          <a:p>
            <a:pPr algn="r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49306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6405EE4-ED57-450B-AE1F-2F3ABE9D15F7}"/>
              </a:ext>
            </a:extLst>
          </p:cNvPr>
          <p:cNvSpPr>
            <a:spLocks noGrp="1"/>
          </p:cNvSpPr>
          <p:nvPr/>
        </p:nvSpPr>
        <p:spPr>
          <a:xfrm>
            <a:off x="419100" y="361950"/>
            <a:ext cx="10477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30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Project status at a glance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E06A262D-8380-4A5D-963E-838781F05109}"/>
              </a:ext>
            </a:extLst>
          </p:cNvPr>
          <p:cNvSpPr>
            <a:spLocks noGrp="1"/>
          </p:cNvSpPr>
          <p:nvPr/>
        </p:nvSpPr>
        <p:spPr>
          <a:xfrm>
            <a:off x="419100" y="1714500"/>
            <a:ext cx="3505200" cy="2647950"/>
          </a:xfrm>
          <a:prstGeom prst="roundRect">
            <a:avLst>
              <a:gd name="adj" fmla="val 4317"/>
            </a:avLst>
          </a:prstGeom>
          <a:solidFill>
            <a:srgbClr val="DDF6E8"/>
          </a:solidFill>
          <a:ln w="0">
            <a:noFill/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90BF53-1576-4DA9-AD63-D36F9E8314B3}"/>
              </a:ext>
            </a:extLst>
          </p:cNvPr>
          <p:cNvSpPr>
            <a:spLocks noGrp="1"/>
          </p:cNvSpPr>
          <p:nvPr/>
        </p:nvSpPr>
        <p:spPr>
          <a:xfrm>
            <a:off x="666750" y="2133600"/>
            <a:ext cx="295275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46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14C470-F2AF-4D5C-AEC7-B579794528AA}"/>
              </a:ext>
            </a:extLst>
          </p:cNvPr>
          <p:cNvSpPr>
            <a:spLocks noGrp="1"/>
          </p:cNvSpPr>
          <p:nvPr/>
        </p:nvSpPr>
        <p:spPr>
          <a:xfrm>
            <a:off x="666750" y="3257550"/>
            <a:ext cx="2952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8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Completed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DFE1931-0FA5-4AA0-BCC6-8BE4D10C16A4}"/>
              </a:ext>
            </a:extLst>
          </p:cNvPr>
          <p:cNvSpPr>
            <a:spLocks noGrp="1"/>
          </p:cNvSpPr>
          <p:nvPr/>
        </p:nvSpPr>
        <p:spPr>
          <a:xfrm>
            <a:off x="4343400" y="1714500"/>
            <a:ext cx="3505200" cy="2647950"/>
          </a:xfrm>
          <a:prstGeom prst="roundRect">
            <a:avLst>
              <a:gd name="adj" fmla="val 4317"/>
            </a:avLst>
          </a:prstGeom>
          <a:solidFill>
            <a:srgbClr val="D9F0FB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973502-79D9-4D57-A91A-543B53506BCC}"/>
              </a:ext>
            </a:extLst>
          </p:cNvPr>
          <p:cNvSpPr>
            <a:spLocks noGrp="1"/>
          </p:cNvSpPr>
          <p:nvPr/>
        </p:nvSpPr>
        <p:spPr>
          <a:xfrm>
            <a:off x="4591050" y="2133600"/>
            <a:ext cx="295275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46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A890805-7108-41D2-A6FC-06916F58A713}"/>
              </a:ext>
            </a:extLst>
          </p:cNvPr>
          <p:cNvSpPr>
            <a:spLocks noGrp="1"/>
          </p:cNvSpPr>
          <p:nvPr/>
        </p:nvSpPr>
        <p:spPr>
          <a:xfrm>
            <a:off x="4591050" y="3257550"/>
            <a:ext cx="2952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8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23E5C7B-9F0B-4C7C-A5B0-A9B8222F6B68}"/>
              </a:ext>
            </a:extLst>
          </p:cNvPr>
          <p:cNvSpPr>
            <a:spLocks noGrp="1"/>
          </p:cNvSpPr>
          <p:nvPr/>
        </p:nvSpPr>
        <p:spPr>
          <a:xfrm>
            <a:off x="8267700" y="1714500"/>
            <a:ext cx="3505200" cy="2647950"/>
          </a:xfrm>
          <a:prstGeom prst="roundRect">
            <a:avLst>
              <a:gd name="adj" fmla="val 4317"/>
            </a:avLst>
          </a:prstGeom>
          <a:solidFill>
            <a:srgbClr val="FDE2E2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15389C-2EF0-47D3-A214-552AD736194A}"/>
              </a:ext>
            </a:extLst>
          </p:cNvPr>
          <p:cNvSpPr>
            <a:spLocks noGrp="1"/>
          </p:cNvSpPr>
          <p:nvPr/>
        </p:nvSpPr>
        <p:spPr>
          <a:xfrm>
            <a:off x="8515350" y="2133600"/>
            <a:ext cx="295275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46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C6CABD-2EC1-40B6-9A16-AB533F71E7CB}"/>
              </a:ext>
            </a:extLst>
          </p:cNvPr>
          <p:cNvSpPr>
            <a:spLocks noGrp="1"/>
          </p:cNvSpPr>
          <p:nvPr/>
        </p:nvSpPr>
        <p:spPr>
          <a:xfrm>
            <a:off x="8515350" y="3257550"/>
            <a:ext cx="2952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8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Risks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1EEC81-93C9-47EA-A588-89B56EAFEC69}"/>
              </a:ext>
            </a:extLst>
          </p:cNvPr>
          <p:cNvSpPr>
            <a:spLocks noGrp="1"/>
          </p:cNvSpPr>
          <p:nvPr/>
        </p:nvSpPr>
        <p:spPr>
          <a:xfrm>
            <a:off x="419100" y="4857750"/>
            <a:ext cx="106680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5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The project is progressing to plan. The next reporting period will focus on closing open actions and mitigating two active risks.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E3B0EC-8534-4819-9BE5-9D2A10C277B2}"/>
              </a:ext>
            </a:extLst>
          </p:cNvPr>
          <p:cNvSpPr>
            <a:spLocks noGrp="1"/>
          </p:cNvSpPr>
          <p:nvPr/>
        </p:nvSpPr>
        <p:spPr>
          <a:xfrm>
            <a:off x="419100" y="64198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111"/>
          </a:bodyPr>
          <a:lstStyle/>
          <a:p>
            <a:pPr algn="l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Internal project report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8069409-4BE3-40D8-8757-CBEA5A820570}"/>
              </a:ext>
            </a:extLst>
          </p:cNvPr>
          <p:cNvSpPr>
            <a:spLocks noGrp="1"/>
          </p:cNvSpPr>
          <p:nvPr/>
        </p:nvSpPr>
        <p:spPr>
          <a:xfrm>
            <a:off x="11239500" y="6419850"/>
            <a:ext cx="5238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111"/>
          </a:bodyPr>
          <a:lstStyle/>
          <a:p>
            <a:pPr algn="r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14554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CD91F0F0-38E6-4CD8-8AFE-A4503F55FD3F}"/>
              </a:ext>
            </a:extLst>
          </p:cNvPr>
          <p:cNvSpPr>
            <a:spLocks noGrp="1"/>
          </p:cNvSpPr>
          <p:nvPr/>
        </p:nvSpPr>
        <p:spPr>
          <a:xfrm>
            <a:off x="419100" y="361950"/>
            <a:ext cx="10477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30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Key workstreams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241AA0-8C93-4E8F-A3FA-755FE02E47A1}"/>
              </a:ext>
            </a:extLst>
          </p:cNvPr>
          <p:cNvSpPr>
            <a:spLocks noGrp="1"/>
          </p:cNvSpPr>
          <p:nvPr/>
        </p:nvSpPr>
        <p:spPr>
          <a:xfrm>
            <a:off x="419100" y="1638300"/>
            <a:ext cx="952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F12A4F-0FCC-4A75-A410-7DF01A3A74CF}"/>
              </a:ext>
            </a:extLst>
          </p:cNvPr>
          <p:cNvSpPr>
            <a:spLocks noGrp="1"/>
          </p:cNvSpPr>
          <p:nvPr/>
        </p:nvSpPr>
        <p:spPr>
          <a:xfrm>
            <a:off x="419100" y="217170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21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Delivery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C653478-AE0B-4D1C-B20F-6566D137F34F}"/>
              </a:ext>
            </a:extLst>
          </p:cNvPr>
          <p:cNvSpPr>
            <a:spLocks noGrp="1"/>
          </p:cNvSpPr>
          <p:nvPr/>
        </p:nvSpPr>
        <p:spPr>
          <a:xfrm>
            <a:off x="419100" y="2952750"/>
            <a:ext cx="314325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5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Core outputs were delivered in line with the schedule.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DC8E5B-704A-4FAF-AC1C-970D192B82EA}"/>
              </a:ext>
            </a:extLst>
          </p:cNvPr>
          <p:cNvSpPr>
            <a:spLocks noGrp="1"/>
          </p:cNvSpPr>
          <p:nvPr/>
        </p:nvSpPr>
        <p:spPr>
          <a:xfrm>
            <a:off x="419100" y="4819650"/>
            <a:ext cx="3143250" cy="762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952591-8884-45E9-ACED-9679CBF4F777}"/>
              </a:ext>
            </a:extLst>
          </p:cNvPr>
          <p:cNvSpPr>
            <a:spLocks noGrp="1"/>
          </p:cNvSpPr>
          <p:nvPr/>
        </p:nvSpPr>
        <p:spPr>
          <a:xfrm>
            <a:off x="4343400" y="1638300"/>
            <a:ext cx="952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9AB84C-66D7-45B6-9857-BF68380E6230}"/>
              </a:ext>
            </a:extLst>
          </p:cNvPr>
          <p:cNvSpPr>
            <a:spLocks noGrp="1"/>
          </p:cNvSpPr>
          <p:nvPr/>
        </p:nvSpPr>
        <p:spPr>
          <a:xfrm>
            <a:off x="4343400" y="217170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21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Operations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90EB04-87D1-4E0B-AF9D-8CA076FAA6A8}"/>
              </a:ext>
            </a:extLst>
          </p:cNvPr>
          <p:cNvSpPr>
            <a:spLocks noGrp="1"/>
          </p:cNvSpPr>
          <p:nvPr/>
        </p:nvSpPr>
        <p:spPr>
          <a:xfrm>
            <a:off x="4343400" y="2952750"/>
            <a:ext cx="314325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5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The team processed open requests and updated documentation.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01514C-858C-4D11-AD1B-EE0DE813CFFF}"/>
              </a:ext>
            </a:extLst>
          </p:cNvPr>
          <p:cNvSpPr>
            <a:spLocks noGrp="1"/>
          </p:cNvSpPr>
          <p:nvPr/>
        </p:nvSpPr>
        <p:spPr>
          <a:xfrm>
            <a:off x="4343400" y="4819650"/>
            <a:ext cx="3143250" cy="762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960F63A-77B9-41DE-9C83-FEC56DD507B9}"/>
              </a:ext>
            </a:extLst>
          </p:cNvPr>
          <p:cNvSpPr>
            <a:spLocks noGrp="1"/>
          </p:cNvSpPr>
          <p:nvPr/>
        </p:nvSpPr>
        <p:spPr>
          <a:xfrm>
            <a:off x="8267700" y="1638300"/>
            <a:ext cx="952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35E7397-9FE2-4FA6-A05A-BA9AE69DE9D4}"/>
              </a:ext>
            </a:extLst>
          </p:cNvPr>
          <p:cNvSpPr>
            <a:spLocks noGrp="1"/>
          </p:cNvSpPr>
          <p:nvPr/>
        </p:nvSpPr>
        <p:spPr>
          <a:xfrm>
            <a:off x="8267700" y="217170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21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Communication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787EA88-22F8-406E-912E-44A2EC2DABDA}"/>
              </a:ext>
            </a:extLst>
          </p:cNvPr>
          <p:cNvSpPr>
            <a:spLocks noGrp="1"/>
          </p:cNvSpPr>
          <p:nvPr/>
        </p:nvSpPr>
        <p:spPr>
          <a:xfrm>
            <a:off x="8267700" y="2952750"/>
            <a:ext cx="314325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5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Stakeholder coordination was completed as planned.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492C9C3-5328-4764-ADAE-C9036C8E0433}"/>
              </a:ext>
            </a:extLst>
          </p:cNvPr>
          <p:cNvSpPr>
            <a:spLocks noGrp="1"/>
          </p:cNvSpPr>
          <p:nvPr/>
        </p:nvSpPr>
        <p:spPr>
          <a:xfrm>
            <a:off x="8267700" y="4819650"/>
            <a:ext cx="3143250" cy="762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CE6CFE-AFA3-400F-9D6C-650E171F5EEE}"/>
              </a:ext>
            </a:extLst>
          </p:cNvPr>
          <p:cNvSpPr>
            <a:spLocks noGrp="1"/>
          </p:cNvSpPr>
          <p:nvPr/>
        </p:nvSpPr>
        <p:spPr>
          <a:xfrm>
            <a:off x="419100" y="64198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111"/>
          </a:bodyPr>
          <a:lstStyle/>
          <a:p>
            <a:pPr algn="l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Internal project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BEE2C1-5329-42D8-B689-E07344D4DFF0}"/>
              </a:ext>
            </a:extLst>
          </p:cNvPr>
          <p:cNvSpPr>
            <a:spLocks noGrp="1"/>
          </p:cNvSpPr>
          <p:nvPr/>
        </p:nvSpPr>
        <p:spPr>
          <a:xfrm>
            <a:off x="11239500" y="6419850"/>
            <a:ext cx="5238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111"/>
          </a:bodyPr>
          <a:lstStyle/>
          <a:p>
            <a:pPr algn="r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0898545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0E22E78-FB61-487D-96C1-CF53D098A223}"/>
              </a:ext>
            </a:extLst>
          </p:cNvPr>
          <p:cNvSpPr>
            <a:spLocks noGrp="1"/>
          </p:cNvSpPr>
          <p:nvPr/>
        </p:nvSpPr>
        <p:spPr>
          <a:xfrm>
            <a:off x="419100" y="361950"/>
            <a:ext cx="10477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30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Upcoming milestones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1D422F1-CEA9-4AC5-B28A-A930E3AA2E12}"/>
              </a:ext>
            </a:extLst>
          </p:cNvPr>
          <p:cNvSpPr>
            <a:spLocks noGrp="1"/>
          </p:cNvSpPr>
          <p:nvPr/>
        </p:nvSpPr>
        <p:spPr>
          <a:xfrm>
            <a:off x="819150" y="2952750"/>
            <a:ext cx="10382250" cy="1905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A447896-BEFD-4BFC-8DAD-60324D6CEFC7}"/>
              </a:ext>
            </a:extLst>
          </p:cNvPr>
          <p:cNvSpPr>
            <a:spLocks noGrp="1"/>
          </p:cNvSpPr>
          <p:nvPr/>
        </p:nvSpPr>
        <p:spPr>
          <a:xfrm>
            <a:off x="1047750" y="2819400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83BD600-A4E5-4F09-865D-20EEAE9FA762}"/>
              </a:ext>
            </a:extLst>
          </p:cNvPr>
          <p:cNvSpPr>
            <a:spLocks noGrp="1"/>
          </p:cNvSpPr>
          <p:nvPr/>
        </p:nvSpPr>
        <p:spPr>
          <a:xfrm>
            <a:off x="857250" y="2095500"/>
            <a:ext cx="2095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This week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EF9908-DADD-488D-901A-3BC2621BEACA}"/>
              </a:ext>
            </a:extLst>
          </p:cNvPr>
          <p:cNvSpPr>
            <a:spLocks noGrp="1"/>
          </p:cNvSpPr>
          <p:nvPr/>
        </p:nvSpPr>
        <p:spPr>
          <a:xfrm>
            <a:off x="857250" y="3390900"/>
            <a:ext cx="21907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Complete review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42290E-894E-4B03-8692-7E19327F8B78}"/>
              </a:ext>
            </a:extLst>
          </p:cNvPr>
          <p:cNvSpPr>
            <a:spLocks noGrp="1"/>
          </p:cNvSpPr>
          <p:nvPr/>
        </p:nvSpPr>
        <p:spPr>
          <a:xfrm>
            <a:off x="3762375" y="2819400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96D8BB-F82F-4558-9116-A7DA682EFA0A}"/>
              </a:ext>
            </a:extLst>
          </p:cNvPr>
          <p:cNvSpPr>
            <a:spLocks noGrp="1"/>
          </p:cNvSpPr>
          <p:nvPr/>
        </p:nvSpPr>
        <p:spPr>
          <a:xfrm>
            <a:off x="3571875" y="2095500"/>
            <a:ext cx="2095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Next week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7D4369-9BE3-4848-B7B5-F4C4C57B8C94}"/>
              </a:ext>
            </a:extLst>
          </p:cNvPr>
          <p:cNvSpPr>
            <a:spLocks noGrp="1"/>
          </p:cNvSpPr>
          <p:nvPr/>
        </p:nvSpPr>
        <p:spPr>
          <a:xfrm>
            <a:off x="3571875" y="3390900"/>
            <a:ext cx="21907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Approve deliverables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8F34AA1-2373-494D-BE26-438CC91058E3}"/>
              </a:ext>
            </a:extLst>
          </p:cNvPr>
          <p:cNvSpPr>
            <a:spLocks noGrp="1"/>
          </p:cNvSpPr>
          <p:nvPr/>
        </p:nvSpPr>
        <p:spPr>
          <a:xfrm>
            <a:off x="6477000" y="2819400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961033-FA8F-4D6B-8D34-F539AD2E9E0C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2095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Within 30 days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9ABE0E-91B4-466E-9679-1F3592FD70EE}"/>
              </a:ext>
            </a:extLst>
          </p:cNvPr>
          <p:cNvSpPr>
            <a:spLocks noGrp="1"/>
          </p:cNvSpPr>
          <p:nvPr/>
        </p:nvSpPr>
        <p:spPr>
          <a:xfrm>
            <a:off x="6286500" y="3390900"/>
            <a:ext cx="21907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Launch next phase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9A2BE5-DDA1-4169-A799-38BC54231F7D}"/>
              </a:ext>
            </a:extLst>
          </p:cNvPr>
          <p:cNvSpPr>
            <a:spLocks noGrp="1"/>
          </p:cNvSpPr>
          <p:nvPr/>
        </p:nvSpPr>
        <p:spPr>
          <a:xfrm>
            <a:off x="9191625" y="2819400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877821-A539-4711-B3C0-AA3FDFA83259}"/>
              </a:ext>
            </a:extLst>
          </p:cNvPr>
          <p:cNvSpPr>
            <a:spLocks noGrp="1"/>
          </p:cNvSpPr>
          <p:nvPr/>
        </p:nvSpPr>
        <p:spPr>
          <a:xfrm>
            <a:off x="9001125" y="2095500"/>
            <a:ext cx="2095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Afterwards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EB1C33C-C7D3-4ECE-9A03-6267CE45A9B4}"/>
              </a:ext>
            </a:extLst>
          </p:cNvPr>
          <p:cNvSpPr>
            <a:spLocks noGrp="1"/>
          </p:cNvSpPr>
          <p:nvPr/>
        </p:nvSpPr>
        <p:spPr>
          <a:xfrm>
            <a:off x="9001125" y="3390900"/>
            <a:ext cx="21907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Evaluate outcomes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F1D53A-A99E-444E-B1F2-00014B0676E4}"/>
              </a:ext>
            </a:extLst>
          </p:cNvPr>
          <p:cNvSpPr>
            <a:spLocks noGrp="1"/>
          </p:cNvSpPr>
          <p:nvPr/>
        </p:nvSpPr>
        <p:spPr>
          <a:xfrm>
            <a:off x="419100" y="64198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111"/>
          </a:bodyPr>
          <a:lstStyle/>
          <a:p>
            <a:pPr algn="l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Internal project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EC24-7615-4890-8803-EBE409005617}"/>
              </a:ext>
            </a:extLst>
          </p:cNvPr>
          <p:cNvSpPr>
            <a:spLocks noGrp="1"/>
          </p:cNvSpPr>
          <p:nvPr/>
        </p:nvSpPr>
        <p:spPr>
          <a:xfrm>
            <a:off x="11239500" y="6419850"/>
            <a:ext cx="5238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111"/>
          </a:bodyPr>
          <a:lstStyle/>
          <a:p>
            <a:pPr algn="r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54375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2B2D9730-66DF-420B-BC89-10D5EEAD2633}"/>
              </a:ext>
            </a:extLst>
          </p:cNvPr>
          <p:cNvSpPr>
            <a:spLocks noGrp="1"/>
          </p:cNvSpPr>
          <p:nvPr/>
        </p:nvSpPr>
        <p:spPr>
          <a:xfrm>
            <a:off x="419100" y="361950"/>
            <a:ext cx="10477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30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Risks and decisions required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8D7990-77CB-47B0-A70A-C7044314D439}"/>
              </a:ext>
            </a:extLst>
          </p:cNvPr>
          <p:cNvSpPr>
            <a:spLocks noGrp="1"/>
          </p:cNvSpPr>
          <p:nvPr/>
        </p:nvSpPr>
        <p:spPr>
          <a:xfrm>
            <a:off x="419100" y="1619250"/>
            <a:ext cx="2857500" cy="781050"/>
          </a:xfrm>
          <a:prstGeom prst="rect">
            <a:avLst/>
          </a:prstGeom>
          <a:solidFill>
            <a:srgbClr val="11182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004FC6-DF88-4701-B863-ED7FB0E4C186}"/>
              </a:ext>
            </a:extLst>
          </p:cNvPr>
          <p:cNvSpPr>
            <a:spLocks noGrp="1"/>
          </p:cNvSpPr>
          <p:nvPr/>
        </p:nvSpPr>
        <p:spPr>
          <a:xfrm>
            <a:off x="552450" y="1790700"/>
            <a:ext cx="2590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Topic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BA8716-E3A1-414A-99A0-0F9F3D064053}"/>
              </a:ext>
            </a:extLst>
          </p:cNvPr>
          <p:cNvSpPr>
            <a:spLocks noGrp="1"/>
          </p:cNvSpPr>
          <p:nvPr/>
        </p:nvSpPr>
        <p:spPr>
          <a:xfrm>
            <a:off x="3276600" y="1619250"/>
            <a:ext cx="1619250" cy="781050"/>
          </a:xfrm>
          <a:prstGeom prst="rect">
            <a:avLst/>
          </a:prstGeom>
          <a:solidFill>
            <a:srgbClr val="11182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034251-D90E-4BE2-8959-9A1D8865B923}"/>
              </a:ext>
            </a:extLst>
          </p:cNvPr>
          <p:cNvSpPr>
            <a:spLocks noGrp="1"/>
          </p:cNvSpPr>
          <p:nvPr/>
        </p:nvSpPr>
        <p:spPr>
          <a:xfrm>
            <a:off x="3409950" y="1790700"/>
            <a:ext cx="13525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Impact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B70728-868B-472F-A5B6-9F5B390968F1}"/>
              </a:ext>
            </a:extLst>
          </p:cNvPr>
          <p:cNvSpPr>
            <a:spLocks noGrp="1"/>
          </p:cNvSpPr>
          <p:nvPr/>
        </p:nvSpPr>
        <p:spPr>
          <a:xfrm>
            <a:off x="4895850" y="1619250"/>
            <a:ext cx="2476500" cy="781050"/>
          </a:xfrm>
          <a:prstGeom prst="rect">
            <a:avLst/>
          </a:prstGeom>
          <a:solidFill>
            <a:srgbClr val="11182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DCC428-0DAD-49F9-AAD5-F0E3AE9D19F1}"/>
              </a:ext>
            </a:extLst>
          </p:cNvPr>
          <p:cNvSpPr>
            <a:spLocks noGrp="1"/>
          </p:cNvSpPr>
          <p:nvPr/>
        </p:nvSpPr>
        <p:spPr>
          <a:xfrm>
            <a:off x="5029200" y="1790700"/>
            <a:ext cx="2209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Owner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FA432D-23D2-48B5-9DEB-1D7C7A8C6482}"/>
              </a:ext>
            </a:extLst>
          </p:cNvPr>
          <p:cNvSpPr>
            <a:spLocks noGrp="1"/>
          </p:cNvSpPr>
          <p:nvPr/>
        </p:nvSpPr>
        <p:spPr>
          <a:xfrm>
            <a:off x="7372350" y="1619250"/>
            <a:ext cx="3981450" cy="781050"/>
          </a:xfrm>
          <a:prstGeom prst="rect">
            <a:avLst/>
          </a:prstGeom>
          <a:solidFill>
            <a:srgbClr val="11182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075F93A-F269-4F91-8BDA-FE926F676030}"/>
              </a:ext>
            </a:extLst>
          </p:cNvPr>
          <p:cNvSpPr>
            <a:spLocks noGrp="1"/>
          </p:cNvSpPr>
          <p:nvPr/>
        </p:nvSpPr>
        <p:spPr>
          <a:xfrm>
            <a:off x="7505700" y="1790700"/>
            <a:ext cx="3714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Next step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B95B18-219C-420D-91C3-9C4F310DD6BE}"/>
              </a:ext>
            </a:extLst>
          </p:cNvPr>
          <p:cNvSpPr>
            <a:spLocks noGrp="1"/>
          </p:cNvSpPr>
          <p:nvPr/>
        </p:nvSpPr>
        <p:spPr>
          <a:xfrm>
            <a:off x="419100" y="2400300"/>
            <a:ext cx="285750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DDE5D7-CF45-4330-9BD2-7BAC9787F442}"/>
              </a:ext>
            </a:extLst>
          </p:cNvPr>
          <p:cNvSpPr>
            <a:spLocks noGrp="1"/>
          </p:cNvSpPr>
          <p:nvPr/>
        </p:nvSpPr>
        <p:spPr>
          <a:xfrm>
            <a:off x="552450" y="2571750"/>
            <a:ext cx="2590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Delayed input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64E986-9F58-465F-A21D-346324425AB1}"/>
              </a:ext>
            </a:extLst>
          </p:cNvPr>
          <p:cNvSpPr>
            <a:spLocks noGrp="1"/>
          </p:cNvSpPr>
          <p:nvPr/>
        </p:nvSpPr>
        <p:spPr>
          <a:xfrm>
            <a:off x="3276600" y="2400300"/>
            <a:ext cx="16192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E4F343E-BE1E-4823-A4D6-90E40617BD07}"/>
              </a:ext>
            </a:extLst>
          </p:cNvPr>
          <p:cNvSpPr>
            <a:spLocks noGrp="1"/>
          </p:cNvSpPr>
          <p:nvPr/>
        </p:nvSpPr>
        <p:spPr>
          <a:xfrm>
            <a:off x="3409950" y="2571750"/>
            <a:ext cx="13525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Medium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60867F6-72C9-40AB-88B2-1F7F7479AFA5}"/>
              </a:ext>
            </a:extLst>
          </p:cNvPr>
          <p:cNvSpPr>
            <a:spLocks noGrp="1"/>
          </p:cNvSpPr>
          <p:nvPr/>
        </p:nvSpPr>
        <p:spPr>
          <a:xfrm>
            <a:off x="4895850" y="2400300"/>
            <a:ext cx="247650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FFF63D6-531E-4AE6-ACB3-A929AA9561B7}"/>
              </a:ext>
            </a:extLst>
          </p:cNvPr>
          <p:cNvSpPr>
            <a:spLocks noGrp="1"/>
          </p:cNvSpPr>
          <p:nvPr/>
        </p:nvSpPr>
        <p:spPr>
          <a:xfrm>
            <a:off x="5029200" y="2571750"/>
            <a:ext cx="2209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Project lead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BAF508-9484-4A0B-B6C9-9D3793DBF435}"/>
              </a:ext>
            </a:extLst>
          </p:cNvPr>
          <p:cNvSpPr>
            <a:spLocks noGrp="1"/>
          </p:cNvSpPr>
          <p:nvPr/>
        </p:nvSpPr>
        <p:spPr>
          <a:xfrm>
            <a:off x="7372350" y="2400300"/>
            <a:ext cx="39814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B0BD3AE-C376-473F-99A4-2D61604969DC}"/>
              </a:ext>
            </a:extLst>
          </p:cNvPr>
          <p:cNvSpPr>
            <a:spLocks noGrp="1"/>
          </p:cNvSpPr>
          <p:nvPr/>
        </p:nvSpPr>
        <p:spPr>
          <a:xfrm>
            <a:off x="7505700" y="2571750"/>
            <a:ext cx="3714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Confirm due date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86AD0A-18F8-4966-848F-037A4CF48996}"/>
              </a:ext>
            </a:extLst>
          </p:cNvPr>
          <p:cNvSpPr>
            <a:spLocks noGrp="1"/>
          </p:cNvSpPr>
          <p:nvPr/>
        </p:nvSpPr>
        <p:spPr>
          <a:xfrm>
            <a:off x="419100" y="3181350"/>
            <a:ext cx="285750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788769-3580-4F5C-8A83-38A8E9B25A84}"/>
              </a:ext>
            </a:extLst>
          </p:cNvPr>
          <p:cNvSpPr>
            <a:spLocks noGrp="1"/>
          </p:cNvSpPr>
          <p:nvPr/>
        </p:nvSpPr>
        <p:spPr>
          <a:xfrm>
            <a:off x="552450" y="3352800"/>
            <a:ext cx="2590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Limited capacity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43F057-F805-4784-AD5E-9123F05ADCCA}"/>
              </a:ext>
            </a:extLst>
          </p:cNvPr>
          <p:cNvSpPr>
            <a:spLocks noGrp="1"/>
          </p:cNvSpPr>
          <p:nvPr/>
        </p:nvSpPr>
        <p:spPr>
          <a:xfrm>
            <a:off x="3276600" y="3181350"/>
            <a:ext cx="1619250" cy="781050"/>
          </a:xfrm>
          <a:prstGeom prst="rect">
            <a:avLst/>
          </a:prstGeom>
          <a:solidFill>
            <a:srgbClr val="FDE2E2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C850D8A-0BC3-465C-A567-3A5B895E5815}"/>
              </a:ext>
            </a:extLst>
          </p:cNvPr>
          <p:cNvSpPr>
            <a:spLocks noGrp="1"/>
          </p:cNvSpPr>
          <p:nvPr/>
        </p:nvSpPr>
        <p:spPr>
          <a:xfrm>
            <a:off x="3409950" y="3352800"/>
            <a:ext cx="13525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B0C3276-7BCA-477C-8F3B-74BA20C45368}"/>
              </a:ext>
            </a:extLst>
          </p:cNvPr>
          <p:cNvSpPr>
            <a:spLocks noGrp="1"/>
          </p:cNvSpPr>
          <p:nvPr/>
        </p:nvSpPr>
        <p:spPr>
          <a:xfrm>
            <a:off x="4895850" y="3181350"/>
            <a:ext cx="247650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FC6E759-7E34-4508-B8FF-F0A1EA4B6DAF}"/>
              </a:ext>
            </a:extLst>
          </p:cNvPr>
          <p:cNvSpPr>
            <a:spLocks noGrp="1"/>
          </p:cNvSpPr>
          <p:nvPr/>
        </p:nvSpPr>
        <p:spPr>
          <a:xfrm>
            <a:off x="5029200" y="3352800"/>
            <a:ext cx="2209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Team lead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F1039E6-E30D-444A-A635-413FA62F6282}"/>
              </a:ext>
            </a:extLst>
          </p:cNvPr>
          <p:cNvSpPr>
            <a:spLocks noGrp="1"/>
          </p:cNvSpPr>
          <p:nvPr/>
        </p:nvSpPr>
        <p:spPr>
          <a:xfrm>
            <a:off x="7372350" y="3181350"/>
            <a:ext cx="39814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76F01B9-75D8-44A7-A28B-6EC1E4BA06D7}"/>
              </a:ext>
            </a:extLst>
          </p:cNvPr>
          <p:cNvSpPr>
            <a:spLocks noGrp="1"/>
          </p:cNvSpPr>
          <p:nvPr/>
        </p:nvSpPr>
        <p:spPr>
          <a:xfrm>
            <a:off x="7505700" y="3352800"/>
            <a:ext cx="3714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Reprioritise work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7FC279C-DFF6-4D3D-84B1-951EE52D7764}"/>
              </a:ext>
            </a:extLst>
          </p:cNvPr>
          <p:cNvSpPr>
            <a:spLocks noGrp="1"/>
          </p:cNvSpPr>
          <p:nvPr/>
        </p:nvSpPr>
        <p:spPr>
          <a:xfrm>
            <a:off x="419100" y="3962400"/>
            <a:ext cx="285750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5F1AC55-06C4-4AD5-8303-AA33853AFDBB}"/>
              </a:ext>
            </a:extLst>
          </p:cNvPr>
          <p:cNvSpPr>
            <a:spLocks noGrp="1"/>
          </p:cNvSpPr>
          <p:nvPr/>
        </p:nvSpPr>
        <p:spPr>
          <a:xfrm>
            <a:off x="552450" y="4133850"/>
            <a:ext cx="2590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Unclear requirement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F100850-55DA-4593-AC77-24825BAFACAD}"/>
              </a:ext>
            </a:extLst>
          </p:cNvPr>
          <p:cNvSpPr>
            <a:spLocks noGrp="1"/>
          </p:cNvSpPr>
          <p:nvPr/>
        </p:nvSpPr>
        <p:spPr>
          <a:xfrm>
            <a:off x="3276600" y="3962400"/>
            <a:ext cx="16192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86CD224-57E1-4F40-BACA-8BAD62A4182C}"/>
              </a:ext>
            </a:extLst>
          </p:cNvPr>
          <p:cNvSpPr>
            <a:spLocks noGrp="1"/>
          </p:cNvSpPr>
          <p:nvPr/>
        </p:nvSpPr>
        <p:spPr>
          <a:xfrm>
            <a:off x="3409950" y="4133850"/>
            <a:ext cx="13525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Low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A6C2723-87FC-4317-9C87-836C0589B353}"/>
              </a:ext>
            </a:extLst>
          </p:cNvPr>
          <p:cNvSpPr>
            <a:spLocks noGrp="1"/>
          </p:cNvSpPr>
          <p:nvPr/>
        </p:nvSpPr>
        <p:spPr>
          <a:xfrm>
            <a:off x="4895850" y="3962400"/>
            <a:ext cx="247650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DD12736-CDF9-4054-8E4A-8FB614E34846}"/>
              </a:ext>
            </a:extLst>
          </p:cNvPr>
          <p:cNvSpPr>
            <a:spLocks noGrp="1"/>
          </p:cNvSpPr>
          <p:nvPr/>
        </p:nvSpPr>
        <p:spPr>
          <a:xfrm>
            <a:off x="5029200" y="4133850"/>
            <a:ext cx="2209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Process owner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587083D-C873-4AFF-90B4-744338F80F37}"/>
              </a:ext>
            </a:extLst>
          </p:cNvPr>
          <p:cNvSpPr>
            <a:spLocks noGrp="1"/>
          </p:cNvSpPr>
          <p:nvPr/>
        </p:nvSpPr>
        <p:spPr>
          <a:xfrm>
            <a:off x="7372350" y="3962400"/>
            <a:ext cx="39814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38C6CA4-1410-47B5-AF44-87A693E3353E}"/>
              </a:ext>
            </a:extLst>
          </p:cNvPr>
          <p:cNvSpPr>
            <a:spLocks noGrp="1"/>
          </p:cNvSpPr>
          <p:nvPr/>
        </p:nvSpPr>
        <p:spPr>
          <a:xfrm>
            <a:off x="7505700" y="4133850"/>
            <a:ext cx="3714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defRPr sz="12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Clarify scope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72F820F-2EC4-4B4C-90D9-D99BB6F65824}"/>
              </a:ext>
            </a:extLst>
          </p:cNvPr>
          <p:cNvSpPr>
            <a:spLocks noGrp="1"/>
          </p:cNvSpPr>
          <p:nvPr/>
        </p:nvSpPr>
        <p:spPr>
          <a:xfrm>
            <a:off x="419100" y="64198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111"/>
          </a:bodyPr>
          <a:lstStyle/>
          <a:p>
            <a:pPr algn="l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Internal project report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480C231-795C-4A68-85E5-B8AB8E8895A1}"/>
              </a:ext>
            </a:extLst>
          </p:cNvPr>
          <p:cNvSpPr>
            <a:spLocks noGrp="1"/>
          </p:cNvSpPr>
          <p:nvPr/>
        </p:nvSpPr>
        <p:spPr>
          <a:xfrm>
            <a:off x="11239500" y="6419850"/>
            <a:ext cx="5238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111"/>
          </a:bodyPr>
          <a:lstStyle/>
          <a:p>
            <a:pPr algn="r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6571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11FB1C39-F941-4393-83AD-0AD2BDCB8FDA}"/>
              </a:ext>
            </a:extLst>
          </p:cNvPr>
          <p:cNvSpPr>
            <a:spLocks noGrp="1"/>
          </p:cNvSpPr>
          <p:nvPr/>
        </p:nvSpPr>
        <p:spPr>
          <a:xfrm>
            <a:off x="419100" y="361950"/>
            <a:ext cx="10477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30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Next steps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5B78A1C-0677-4F44-BFB3-AFD5AFF16C1D}"/>
              </a:ext>
            </a:extLst>
          </p:cNvPr>
          <p:cNvSpPr>
            <a:spLocks noGrp="1"/>
          </p:cNvSpPr>
          <p:nvPr/>
        </p:nvSpPr>
        <p:spPr>
          <a:xfrm>
            <a:off x="419100" y="1657350"/>
            <a:ext cx="552450" cy="552450"/>
          </a:xfrm>
          <a:prstGeom prst="roundRect">
            <a:avLst>
              <a:gd name="adj" fmla="val 20690"/>
            </a:avLst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8F79F2-E0AC-4FD2-A60B-142E0964B6D3}"/>
              </a:ext>
            </a:extLst>
          </p:cNvPr>
          <p:cNvSpPr>
            <a:spLocks noGrp="1"/>
          </p:cNvSpPr>
          <p:nvPr/>
        </p:nvSpPr>
        <p:spPr>
          <a:xfrm>
            <a:off x="419100" y="1752600"/>
            <a:ext cx="5524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D1F6AA-09B4-4C41-9FE5-F414016CEE36}"/>
              </a:ext>
            </a:extLst>
          </p:cNvPr>
          <p:cNvSpPr>
            <a:spLocks noGrp="1"/>
          </p:cNvSpPr>
          <p:nvPr/>
        </p:nvSpPr>
        <p:spPr>
          <a:xfrm>
            <a:off x="1257300" y="1733550"/>
            <a:ext cx="5905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defRPr sz="19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Close open actions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A5615F2-6379-4BA7-9CDB-C215EB58B71F}"/>
              </a:ext>
            </a:extLst>
          </p:cNvPr>
          <p:cNvSpPr>
            <a:spLocks noGrp="1"/>
          </p:cNvSpPr>
          <p:nvPr/>
        </p:nvSpPr>
        <p:spPr>
          <a:xfrm>
            <a:off x="419100" y="2724150"/>
            <a:ext cx="552450" cy="552450"/>
          </a:xfrm>
          <a:prstGeom prst="roundRect">
            <a:avLst>
              <a:gd name="adj" fmla="val 20690"/>
            </a:avLst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B80713-AEBE-48D3-9E90-3983BD590784}"/>
              </a:ext>
            </a:extLst>
          </p:cNvPr>
          <p:cNvSpPr>
            <a:spLocks noGrp="1"/>
          </p:cNvSpPr>
          <p:nvPr/>
        </p:nvSpPr>
        <p:spPr>
          <a:xfrm>
            <a:off x="419100" y="2819400"/>
            <a:ext cx="5524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35275D7-8AFA-486D-A105-164647ADD4C1}"/>
              </a:ext>
            </a:extLst>
          </p:cNvPr>
          <p:cNvSpPr>
            <a:spLocks noGrp="1"/>
          </p:cNvSpPr>
          <p:nvPr/>
        </p:nvSpPr>
        <p:spPr>
          <a:xfrm>
            <a:off x="1257300" y="2800350"/>
            <a:ext cx="5905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defRPr sz="19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Confirm milestone dates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45C1D08-4B62-4E4D-96BF-44F6ADC38D3B}"/>
              </a:ext>
            </a:extLst>
          </p:cNvPr>
          <p:cNvSpPr>
            <a:spLocks noGrp="1"/>
          </p:cNvSpPr>
          <p:nvPr/>
        </p:nvSpPr>
        <p:spPr>
          <a:xfrm>
            <a:off x="419100" y="3790950"/>
            <a:ext cx="552450" cy="552450"/>
          </a:xfrm>
          <a:prstGeom prst="roundRect">
            <a:avLst>
              <a:gd name="adj" fmla="val 20690"/>
            </a:avLst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AF0AE34-AD33-4D49-AFA1-BF6976D89D10}"/>
              </a:ext>
            </a:extLst>
          </p:cNvPr>
          <p:cNvSpPr>
            <a:spLocks noGrp="1"/>
          </p:cNvSpPr>
          <p:nvPr/>
        </p:nvSpPr>
        <p:spPr>
          <a:xfrm>
            <a:off x="419100" y="3886200"/>
            <a:ext cx="5524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E9CA29-864F-4496-BA1A-04B816C3C39D}"/>
              </a:ext>
            </a:extLst>
          </p:cNvPr>
          <p:cNvSpPr>
            <a:spLocks noGrp="1"/>
          </p:cNvSpPr>
          <p:nvPr/>
        </p:nvSpPr>
        <p:spPr>
          <a:xfrm>
            <a:off x="1257300" y="3867150"/>
            <a:ext cx="5905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l">
              <a:defRPr sz="19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Update the risk register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E4AFD44-3485-4C88-8DA7-915D5516FB74}"/>
              </a:ext>
            </a:extLst>
          </p:cNvPr>
          <p:cNvSpPr>
            <a:spLocks noGrp="1"/>
          </p:cNvSpPr>
          <p:nvPr/>
        </p:nvSpPr>
        <p:spPr>
          <a:xfrm>
            <a:off x="7943850" y="1657350"/>
            <a:ext cx="3829050" cy="31242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7087461-DE5C-4AEE-8E3B-CE8D8CB145E7}"/>
              </a:ext>
            </a:extLst>
          </p:cNvPr>
          <p:cNvSpPr>
            <a:spLocks noGrp="1"/>
          </p:cNvSpPr>
          <p:nvPr/>
        </p:nvSpPr>
        <p:spPr>
          <a:xfrm>
            <a:off x="8343900" y="2457450"/>
            <a:ext cx="304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34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Thank you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1DFC34-1FEE-407C-B9F4-FF43D943A759}"/>
              </a:ext>
            </a:extLst>
          </p:cNvPr>
          <p:cNvSpPr>
            <a:spLocks noGrp="1"/>
          </p:cNvSpPr>
          <p:nvPr/>
        </p:nvSpPr>
        <p:spPr>
          <a:xfrm>
            <a:off x="8343900" y="3352800"/>
            <a:ext cx="2857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8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Questions and discussion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05643A-F9DE-4EAB-B036-6385C7817A94}"/>
              </a:ext>
            </a:extLst>
          </p:cNvPr>
          <p:cNvSpPr>
            <a:spLocks noGrp="1"/>
          </p:cNvSpPr>
          <p:nvPr/>
        </p:nvSpPr>
        <p:spPr>
          <a:xfrm>
            <a:off x="419100" y="64198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111"/>
          </a:bodyPr>
          <a:lstStyle/>
          <a:p>
            <a:pPr algn="l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Internal project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4B7ED4B-B29F-437C-9DA9-33AC3A5E119A}"/>
              </a:ext>
            </a:extLst>
          </p:cNvPr>
          <p:cNvSpPr>
            <a:spLocks noGrp="1"/>
          </p:cNvSpPr>
          <p:nvPr/>
        </p:nvSpPr>
        <p:spPr>
          <a:xfrm>
            <a:off x="11239500" y="6419850"/>
            <a:ext cx="5238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111"/>
          </a:bodyPr>
          <a:lstStyle/>
          <a:p>
            <a:pPr algn="r">
              <a:defRPr sz="90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2003125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187</Words>
  <Application>Microsoft Office PowerPoint</Application>
  <DocSecurity>0</DocSecurity>
  <PresentationFormat>Widescreen</PresentationFormat>
  <Paragraphs>69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vs_ansible</cp:lastModifiedBy>
  <cp:revision>1</cp:revision>
  <dcterms:created xsi:type="dcterms:W3CDTF">2026-08-19T10:56:14Z</dcterms:created>
  <dcterms:modified xsi:type="dcterms:W3CDTF">2026-08-20T08:07:08Z</dcterms:modified>
</cp:coreProperties>
</file>